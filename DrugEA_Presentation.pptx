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3F6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C3F60"/>
                </a:solidFill>
                <a:latin typeface="Arial"/>
              </a:rPr>
              <a:t>Archive Best Fitness vs. Generation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Archive best fitness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5</c:v>
                  </c:pt>
                  <c:pt idx="5">
                    <c:v>7</c:v>
                  </c:pt>
                  <c:pt idx="6">
                    <c:v>9</c:v>
                  </c:pt>
                  <c:pt idx="7">
                    <c:v>13</c:v>
                  </c:pt>
                  <c:pt idx="8">
                    <c:v>14</c:v>
                  </c:pt>
                  <c:pt idx="9">
                    <c:v>16</c:v>
                  </c:pt>
                  <c:pt idx="10">
                    <c:v>32</c:v>
                  </c:pt>
                  <c:pt idx="11">
                    <c:v>46</c:v>
                  </c:pt>
                  <c:pt idx="12">
                    <c:v>60</c:v>
                  </c:pt>
                  <c:pt idx="13">
                    <c:v>66</c:v>
                  </c:pt>
                  <c:pt idx="14">
                    <c:v>72</c:v>
                  </c:pt>
                  <c:pt idx="15">
                    <c:v>73</c:v>
                  </c:pt>
                  <c:pt idx="16">
                    <c:v>91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6.4549</c:v>
                </c:pt>
                <c:pt idx="1">
                  <c:v>6.418</c:v>
                </c:pt>
                <c:pt idx="2">
                  <c:v>6.0118</c:v>
                </c:pt>
                <c:pt idx="3">
                  <c:v>5.5177</c:v>
                </c:pt>
                <c:pt idx="4">
                  <c:v>5.4235</c:v>
                </c:pt>
                <c:pt idx="5">
                  <c:v>5.2867</c:v>
                </c:pt>
                <c:pt idx="6">
                  <c:v>5.238</c:v>
                </c:pt>
                <c:pt idx="7">
                  <c:v>5.1855</c:v>
                </c:pt>
                <c:pt idx="8">
                  <c:v>5.0685</c:v>
                </c:pt>
                <c:pt idx="9">
                  <c:v>4.1883</c:v>
                </c:pt>
                <c:pt idx="10">
                  <c:v>4.0263</c:v>
                </c:pt>
                <c:pt idx="11">
                  <c:v>3.8775</c:v>
                </c:pt>
                <c:pt idx="12">
                  <c:v>3.8104</c:v>
                </c:pt>
                <c:pt idx="13">
                  <c:v>3.6451</c:v>
                </c:pt>
                <c:pt idx="14">
                  <c:v>3.452</c:v>
                </c:pt>
                <c:pt idx="15">
                  <c:v>3.3854</c:v>
                </c:pt>
                <c:pt idx="16">
                  <c:v>3.1848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3F6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C3F60"/>
                </a:solidFill>
                <a:latin typeface="Arial"/>
              </a:rPr>
              <a:t>Mean adapted σᵢ per fragment  (init = 0.50)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σᵢ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3F6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4530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369A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4530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369A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369A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369A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369A1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imidazole</c:v>
                  </c:pt>
                  <c:pt idx="1">
                    <c:v>butyl</c:v>
                  </c:pt>
                  <c:pt idx="2">
                    <c:v>pyrazine</c:v>
                  </c:pt>
                  <c:pt idx="3">
                    <c:v>methoxy</c:v>
                  </c:pt>
                  <c:pt idx="4">
                    <c:v>indole</c:v>
                  </c:pt>
                  <c:pt idx="5">
                    <c:v>benzimidazole</c:v>
                  </c:pt>
                  <c:pt idx="6">
                    <c:v>pyridine</c:v>
                  </c:pt>
                  <c:pt idx="7">
                    <c:v>piperazine</c:v>
                  </c:pt>
                  <c:pt idx="8">
                    <c:v>quinoline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0.026</c:v>
                </c:pt>
                <c:pt idx="1">
                  <c:v>0.035</c:v>
                </c:pt>
                <c:pt idx="2">
                  <c:v>0.1</c:v>
                </c:pt>
                <c:pt idx="3">
                  <c:v>0.112</c:v>
                </c:pt>
                <c:pt idx="4">
                  <c:v>0.148</c:v>
                </c:pt>
                <c:pt idx="5">
                  <c:v>0.152</c:v>
                </c:pt>
                <c:pt idx="6">
                  <c:v>0.177</c:v>
                </c:pt>
                <c:pt idx="7">
                  <c:v>0.237</c:v>
                </c:pt>
                <c:pt idx="8">
                  <c:v>0.759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C3F6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3F6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C3F60"/>
                </a:solidFill>
                <a:latin typeface="Arial"/>
              </a:rPr>
              <a:t>Mean evolved penalty weight wⱼ  (init = 1.00)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evolved wⱼ</c:v>
                </c:pt>
              </c:strCache>
            </c:strRef>
          </c:tx>
          <c:spPr>
            <a:solidFill>
              <a:srgbClr val="0369A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3F6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369A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369A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369A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369A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MW</c:v>
                  </c:pt>
                  <c:pt idx="1">
                    <c:v>logP</c:v>
                  </c:pt>
                  <c:pt idx="2">
                    <c:v>HBD</c:v>
                  </c:pt>
                  <c:pt idx="3">
                    <c:v>HBA</c:v>
                  </c:pt>
                  <c:pt idx="4">
                    <c:v>SA</c:v>
                  </c:pt>
                  <c:pt idx="5">
                    <c:v>PAINS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1.4759</c:v>
                </c:pt>
                <c:pt idx="1">
                  <c:v>1.7215</c:v>
                </c:pt>
                <c:pt idx="2">
                  <c:v>1.2493</c:v>
                </c:pt>
                <c:pt idx="3">
                  <c:v>1.1911</c:v>
                </c:pt>
                <c:pt idx="4">
                  <c:v>0.7414</c:v>
                </c:pt>
                <c:pt idx="5">
                  <c:v>1.4789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3F6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DrugEA</a:t>
            </a:r>
            <a:endParaRPr lang="en-US" sz="8200" dirty="0"/>
          </a:p>
        </p:txBody>
      </p:sp>
      <p:sp>
        <p:nvSpPr>
          <p:cNvPr id="4" name="Text 2"/>
          <p:cNvSpPr/>
          <p:nvPr/>
        </p:nvSpPr>
        <p:spPr>
          <a:xfrm>
            <a:off x="320040" y="20116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Evolutionary Search for Drug-Like EGFR Inhibitors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2743200"/>
            <a:ext cx="29260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880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A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Evolutionary Computing  ·  Prof. Francesca  · 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3977640"/>
            <a:ext cx="2606040" cy="914400"/>
          </a:xfrm>
          <a:prstGeom prst="rect">
            <a:avLst/>
          </a:prstGeom>
          <a:solidFill>
            <a:srgbClr val="162B40"/>
          </a:solidFill>
          <a:ln w="12700">
            <a:solidFill>
              <a:srgbClr val="253F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023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10⁶⁰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4480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molecules in search space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08960" y="3977640"/>
            <a:ext cx="2606040" cy="914400"/>
          </a:xfrm>
          <a:prstGeom prst="rect">
            <a:avLst/>
          </a:prstGeom>
          <a:solidFill>
            <a:srgbClr val="162B40"/>
          </a:solidFill>
          <a:ln w="12700">
            <a:solidFill>
              <a:srgbClr val="253F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4023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108960" y="4480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pharmacological constraints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97880" y="3977640"/>
            <a:ext cx="2606040" cy="914400"/>
          </a:xfrm>
          <a:prstGeom prst="rect">
            <a:avLst/>
          </a:prstGeom>
          <a:solidFill>
            <a:srgbClr val="162B40"/>
          </a:solidFill>
          <a:ln w="12700">
            <a:solidFill>
              <a:srgbClr val="253F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4023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897880" y="4480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validity (SELFIES)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23760" y="274320"/>
            <a:ext cx="1737360" cy="1737360"/>
          </a:xfrm>
          <a:prstGeom prst="ellipse">
            <a:avLst/>
          </a:prstGeom>
          <a:solidFill>
            <a:srgbClr val="162B40"/>
          </a:solidFill>
          <a:ln w="31750">
            <a:solidFill>
              <a:srgbClr val="2E6B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2286000"/>
            <a:ext cx="1188720" cy="1188720"/>
          </a:xfrm>
          <a:prstGeom prst="ellipse">
            <a:avLst/>
          </a:prstGeom>
          <a:solidFill>
            <a:srgbClr val="0A3F3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2002536"/>
            <a:ext cx="0" cy="292608"/>
          </a:xfrm>
          <a:prstGeom prst="line">
            <a:avLst/>
          </a:prstGeom>
          <a:noFill/>
          <a:ln w="25400">
            <a:solidFill>
              <a:srgbClr val="2E6BA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7315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Approach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182880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503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algn="l" indent="0" marL="0">
              <a:buNone/>
            </a:pPr>
            <a:r>
              <a:rPr lang="en-US" sz="12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kinase — overexpressed in lung &amp; colorectal cancers
</a:t>
            </a:r>
            <a:pPr algn="l" indent="0" marL="0">
              <a:buNone/>
            </a:pPr>
            <a:r>
              <a:rPr lang="en-US" sz="12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</a:t>
            </a:r>
            <a:pPr algn="l" indent="0" marL="0">
              <a:buNone/>
            </a:pPr>
            <a:r>
              <a:rPr lang="en-US" sz="12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space ≈ 10⁶⁰ drug-like molecules
</a:t>
            </a:r>
            <a:pPr algn="l" indent="0" marL="0">
              <a:buNone/>
            </a:pPr>
            <a:r>
              <a:rPr lang="en-US" sz="12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</a:t>
            </a:r>
            <a:pPr algn="l" indent="0" marL="0">
              <a:buNone/>
            </a:pPr>
            <a:r>
              <a:rPr lang="en-US" sz="12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Wet-lab screening: $2.6B and 12 years per drug
</a:t>
            </a:r>
            <a:pPr algn="l" indent="0" marL="0">
              <a:buNone/>
            </a:pPr>
            <a:r>
              <a:rPr lang="en-US" sz="12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algn="l" indent="0" marL="0">
              <a:buNone/>
            </a:pPr>
            <a:r>
              <a:rPr lang="en-US" sz="12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feasible, tightly-binding molecules computationally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761488"/>
            <a:ext cx="4160520" cy="210312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8072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Formulation  (Lecture 13)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18211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82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31912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 of fragment-assembled molecules  (~10⁶⁰)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68503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85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36941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hard constraints: MW, logP, HBD, HBA, SA, PAINS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18795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41970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Neighborhood: fragment substitution / insertion / deletion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804672"/>
            <a:ext cx="4160520" cy="182880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8503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1207008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Evolutionary Algorithm </a:t>
            </a:r>
            <a:pPr indent="0" marL="0">
              <a:buNone/>
            </a:pPr>
            <a:r>
              <a:rPr lang="en-US" sz="12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the chemical space.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PyTorch MLP (AffinityMLP) trained on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10,721 EGFR molecules from ChEMBL203 </a:t>
            </a:r>
            <a:pPr indent="0" marL="0">
              <a:buNone/>
            </a:pPr>
            <a:r>
              <a:rPr lang="en-US" sz="12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binding free energy ΔG_bind, replacing expensive molecular docking.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2761488"/>
            <a:ext cx="4160520" cy="210312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28072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Fitness Function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322783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eval(x)  =  −ΔG_bind(x)  +  Σⱼ wⱼ · vⱼ(x)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00600" y="3767328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−ΔG_bind </a:t>
            </a:r>
            <a:pPr indent="0" marL="0">
              <a:buNone/>
            </a:pPr>
            <a:r>
              <a:rPr lang="en-US" sz="1000" dirty="0">
                <a:solidFill>
                  <a:srgbClr val="AA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binding energy (minimize → tighter binding)
</a:t>
            </a:r>
            <a:pPr indent="0" marL="0">
              <a:buNone/>
            </a:pPr>
            <a:r>
              <a:rPr lang="en-US" sz="1000" b="1" dirty="0">
                <a:solidFill>
                  <a:srgbClr val="F0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wⱼ · vⱼ(x) </a:t>
            </a:r>
            <a:pPr indent="0" marL="0">
              <a:buNone/>
            </a:pPr>
            <a:r>
              <a:rPr lang="en-US" sz="1000" dirty="0">
                <a:solidFill>
                  <a:srgbClr val="AA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for violated pharmacological constraints
</a:t>
            </a:r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</a:t>
            </a:r>
            <a:pPr indent="0" marL="0">
              <a:buNone/>
            </a:pPr>
            <a:r>
              <a:rPr lang="en-US" sz="1000" dirty="0">
                <a:solidFill>
                  <a:srgbClr val="AA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penalty term = 0  (all 6 constraints satisfied)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7315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Architecture  —  6 Modules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74320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2743200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83210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1261872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Chromosome · SELFIES decode · 39-token vocab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1719072"/>
            <a:ext cx="10972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7248" y="160020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72968" y="804672"/>
            <a:ext cx="274320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804672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83210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46120" y="1261872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Lipinski constraints · AffinityMLP surrogate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16168" y="1719072"/>
            <a:ext cx="10972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0176" y="160020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25896" y="804672"/>
            <a:ext cx="274320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25896" y="804672"/>
            <a:ext cx="27432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9048" y="83210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operators.py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99048" y="1261872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(4 ops) · Crossover (2 ops) · σ/w adaptation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926080"/>
            <a:ext cx="274320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926080"/>
            <a:ext cx="274320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29535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selection.py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" y="338328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sharing · Tournament · (μ+λ) · Archive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63240" y="3840480"/>
            <a:ext cx="10972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27248" y="372160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172968" y="2926080"/>
            <a:ext cx="274320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72968" y="2926080"/>
            <a:ext cx="2743200" cy="411480"/>
          </a:xfrm>
          <a:prstGeom prst="rect">
            <a:avLst/>
          </a:prstGeom>
          <a:solidFill>
            <a:srgbClr val="1C3F60"/>
          </a:solidFill>
          <a:ln w="12700">
            <a:solidFill>
              <a:srgbClr val="1C3F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29535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46120" y="338328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loop · CLI · per-gen logging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16168" y="3840480"/>
            <a:ext cx="10972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0176" y="372160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025896" y="2926080"/>
            <a:ext cx="274320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25896" y="2926080"/>
            <a:ext cx="2743200" cy="41148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99048" y="29535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tuning.py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99048" y="338328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REVAC hyperparameter tuning (50 evaluations)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82696" y="4526280"/>
            <a:ext cx="2606040" cy="39319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0128" y="45537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surrogate/model.py + train.py  →  loaded by fitness.py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7315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Representation  —  Group SELFIES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14400"/>
          </a:xfrm>
          <a:prstGeom prst="rect">
            <a:avLst/>
          </a:prstGeom>
          <a:solidFill>
            <a:srgbClr val="F0FDF9"/>
          </a:solidFill>
          <a:ln w="12700">
            <a:solidFill>
              <a:srgbClr val="F0FD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73152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412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SELFIES?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1612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SMILES-based mutation: </a:t>
            </a:r>
            <a:pPr indent="0" marL="0">
              <a:buNone/>
            </a:pPr>
            <a:r>
              <a:rPr lang="en-US" sz="11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30–50% of offspring are chemically invalid  →  wasted evaluations
</a:t>
            </a:r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SELFIES (Nigam et al., 2023): </a:t>
            </a:r>
            <a:pPr indent="0" marL="0">
              <a:buNone/>
            </a:pPr>
            <a:r>
              <a:rPr lang="en-US" sz="11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possible token sequence decodes to a valid molecule by construction  →  </a:t>
            </a:r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failure rate.  Tested: 200/200 random chromosomes valid.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5120640" cy="297180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920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Chromosome Structure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377440"/>
            <a:ext cx="1234440" cy="5486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865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 … bₖ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67004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genes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847088" y="240487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index into 39-token SELFIES vocabulary.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which chemical building block occupies each position.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127248"/>
            <a:ext cx="123444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363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σ₁ … σₖ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419856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Step-size genes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847088" y="31546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Per-fragment mutation probability.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Self-adapted by EA — low σ = frozen core; high σ = exploring.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877056"/>
            <a:ext cx="1234440" cy="548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86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 … w₆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4169664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weights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847088" y="390448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Per-constraint penalty coefficient.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Self-adapted — high w = EA learned this constraint is hard.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463600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is variable length  (K_MIN=2, K_MAX=8)  —  insertion and deletion operators change chromosome length.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77840" y="1874520"/>
            <a:ext cx="3246120" cy="297180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15000" y="1920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Vocabulary  (|V| = 39)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15000" y="2350008"/>
            <a:ext cx="320040" cy="4572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23500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99048" y="23500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Aromatic cores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99048" y="25786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benzene, pyridine, indole, quinoline…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715000" y="2962656"/>
            <a:ext cx="3200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296265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99048" y="296265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systems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99048" y="319125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piperidine, piperazine, morpholine…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715000" y="3575304"/>
            <a:ext cx="32004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0" y="357530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99048" y="357530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Linkers/pharma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99048" y="380390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amide, sulfonamide, urea, ester…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715000" y="4187952"/>
            <a:ext cx="32004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15000" y="418795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099048" y="418795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R-group decorators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99048" y="44165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methyl, methoxy, amine, halomethyl…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7315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Algorithms  —  Four Course Mechanisms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206240" cy="20299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4206240" cy="4389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41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Self-Adaptive Step Sizes σᵢ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03320" y="8961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307592"/>
            <a:ext cx="400507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chromosome carries its own mutation rates — one per fragment position.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σᵢ′ = σᵢ · exp(τ′·N(0,1) + τ·Nᵢ(0,1))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Fragments whose mutation consistently hurts fitness evolve σᵢ → 0 (frozen). Peripheral positions keep σᵢ high (exploring).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27448" y="804672"/>
            <a:ext cx="4206240" cy="20299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7448" y="804672"/>
            <a:ext cx="4206240" cy="4389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841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Self-Adaptive Penalty Weights wⱼ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10728" y="8961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18888" y="1307592"/>
            <a:ext cx="400507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chromosome carries its own penalty coefficients — one per constraint.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wⱼ′ = wⱼ · exp(η·N(0,1))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Chromosomes that evolve higher weight on a hard constraint produce more feasible offspring and are selected more often, propagating high wⱼ.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953512"/>
            <a:ext cx="4206240" cy="20299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53512"/>
            <a:ext cx="42062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990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Sharing over Tanimoto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03320" y="3044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3456432"/>
            <a:ext cx="400507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F′(i) = F(i) · Σⱼ sh(d(i,j))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sh(d) = 1 − (d/σ_share)^α  if d ≤ 0.3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d(i,j) = 1 − Tanimoto(fp_i, fp_j)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 chemical regions get penalised → population forced to explore multiple distinct drug scaffolds simultaneously.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27448" y="2953512"/>
            <a:ext cx="4206240" cy="20299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2953512"/>
            <a:ext cx="4206240" cy="438912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2990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(μ+λ) Selection + Elitist Archive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10728" y="3044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18888" y="3456432"/>
            <a:ext cx="400507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μ survivors from μ parents + λ offspring.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Rank: feasible first, then by fitness.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ElitistArchive: stores all-time best feasible molecule. If a generation loses all feasible individuals, the archive champion is reinjected — best solution is never permanently lost.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7315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Model  —  AffinityMLP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406908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503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3474720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Fingerprint  (radius=2, 2048 bits)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48840" y="1554480"/>
            <a:ext cx="182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02920" y="1618488"/>
            <a:ext cx="3474720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184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2048 → 512  +  BatchNorm  +  ReLU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48840" y="1938528"/>
            <a:ext cx="182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325880" y="2002536"/>
            <a:ext cx="182880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20025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Dropout(0.2)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48840" y="2322576"/>
            <a:ext cx="182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02920" y="2386584"/>
            <a:ext cx="3474720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865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512 → 128  +  BatchNorm  +  ReLU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48840" y="2706624"/>
            <a:ext cx="182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325880" y="2770632"/>
            <a:ext cx="182880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27706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Dropout(0.2)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48840" y="3090672"/>
            <a:ext cx="182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600200" y="3154680"/>
            <a:ext cx="128016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00200" y="31546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128 →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48840" y="3474720"/>
            <a:ext cx="182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600200" y="3538728"/>
            <a:ext cx="128016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00200" y="3538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ΔG_bind  (kcal/mol)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404164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1,116,161 parameters  ·  MC Dropout: 50 passes → mean ± std</a:t>
            </a:r>
            <a:endParaRPr lang="en-US" sz="900" dirty="0"/>
          </a:p>
        </p:txBody>
      </p:sp>
      <p:pic>
        <p:nvPicPr>
          <p:cNvPr id="28" name="Image 0" descr="/Users/davisalley/drugea/surrogate/calib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804672"/>
            <a:ext cx="4114800" cy="411480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4663440" y="4114800"/>
            <a:ext cx="4114800" cy="758952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663440" y="41422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4663440" y="4498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 (&lt;1.5 target ✓)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035040" y="41422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035040" y="4498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06640" y="41422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0.955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7406640" y="4498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 (σ=0.5 noise)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7315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EA Results  —  100 Generations</a:t>
            </a:r>
            <a:endParaRPr lang="en-US" sz="2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804672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206240"/>
            <a:ext cx="1645920" cy="73152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2428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20040" y="45811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improvements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057400" y="4206240"/>
            <a:ext cx="1645920" cy="73152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57400" y="42428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6.45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057400" y="45811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0 best fitness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94760" y="4206240"/>
            <a:ext cx="1645920" cy="73152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94760" y="42428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3.18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794760" y="45811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100 best fitness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577840" y="804672"/>
            <a:ext cx="3246120" cy="233172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760720" y="8503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Molecule Found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760720" y="123444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A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223760" y="123444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3.18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760720" y="1467612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A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ΔG_bind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223760" y="14676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−3.18 kcal/mol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760720" y="170078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A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223760" y="17007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489.6 Da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760720" y="193395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A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logP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223760" y="193395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4.00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760720" y="2167128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A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HBD / HBA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223760" y="216712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760720" y="240030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A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score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223760" y="24003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5.51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760720" y="2633472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A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PAINS alerts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223760" y="26334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760720" y="286664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A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223760" y="286664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✓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577840" y="3264408"/>
            <a:ext cx="3246120" cy="1627632"/>
          </a:xfrm>
          <a:prstGeom prst="rect">
            <a:avLst/>
          </a:prstGeom>
          <a:solidFill>
            <a:srgbClr val="F0FDF9"/>
          </a:solidFill>
          <a:ln w="12700">
            <a:solidFill>
              <a:srgbClr val="F0FD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577840" y="3264408"/>
            <a:ext cx="64008" cy="16276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742432" y="3310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Premature Convergence: RESOLVED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742432" y="3694176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surrogate: </a:t>
            </a:r>
            <a:pPr indent="0" marL="0">
              <a:buNone/>
            </a:pPr>
            <a:r>
              <a:rPr lang="en-US" sz="105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improvements, plateau at gen 30
</a:t>
            </a:r>
            <a:pPr indent="0" marL="0">
              <a:buNone/>
            </a:pPr>
            <a:r>
              <a:rPr lang="en-US" sz="105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AffinityMLP: </a:t>
            </a:r>
            <a:pPr indent="0" marL="0">
              <a:buNone/>
            </a:pPr>
            <a:r>
              <a:rPr lang="en-US" sz="105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improvements, still improving at gen 100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7315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— Do Self-Adapted σᵢ Recover the Pharmacophore?</a:t>
            </a:r>
            <a:endParaRPr lang="en-US" sz="2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804672"/>
          <a:ext cx="54864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160520"/>
            <a:ext cx="5486400" cy="777240"/>
          </a:xfrm>
          <a:prstGeom prst="rect">
            <a:avLst/>
          </a:prstGeom>
          <a:solidFill>
            <a:srgbClr val="F0FDF9"/>
          </a:solidFill>
          <a:ln w="12700">
            <a:solidFill>
              <a:srgbClr val="F0FD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4160520"/>
            <a:ext cx="64008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187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554480" y="4187952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N-heterocycles (imidazole 0.026, pyrazine 0.10, pyridine 0.18) converged to near-zero σ — the EA independently discovered that nitrogen-rich aromatics are the EGFR pharmacophore. This matches medicinal chemistry consensus.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0" y="804672"/>
            <a:ext cx="2880360" cy="324612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80760" y="8503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σᵢ Interpretation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80760" y="1261872"/>
            <a:ext cx="68580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126187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0.25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830568" y="1261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80760" y="149047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decided not to mutate this fragment — it's critical for binding.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80760" y="1947672"/>
            <a:ext cx="68580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194767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0.25–0.55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830568" y="1947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Transitional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80760" y="217627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exploration — position partially converged.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080760" y="2633472"/>
            <a:ext cx="68580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80760" y="263347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0.55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830568" y="2633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080760" y="286207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exploring — position not yet critical.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080760" y="33649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categories: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080760" y="3675888"/>
            <a:ext cx="164592" cy="16459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09360" y="36667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Aromatic core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080760" y="3931920"/>
            <a:ext cx="164592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09360" y="392277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system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080760" y="4187952"/>
            <a:ext cx="164592" cy="1645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09360" y="41788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R-group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7315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— Which Pharmacological Constraints Are Hardest?</a:t>
            </a:r>
            <a:endParaRPr lang="en-US" sz="2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804672"/>
          <a:ext cx="51206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160520"/>
            <a:ext cx="5120640" cy="777240"/>
          </a:xfrm>
          <a:prstGeom prst="rect">
            <a:avLst/>
          </a:prstGeom>
          <a:solidFill>
            <a:srgbClr val="F0FDF9"/>
          </a:solidFill>
          <a:ln w="12700">
            <a:solidFill>
              <a:srgbClr val="F0FD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4160520"/>
            <a:ext cx="6400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20624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logP ranked #1 hardest (1.72).  PAINS #2, MW #3.  SA is easiest (0.74 — dropped below init because fragment assembly rarely violates synthetic accessibility).  EA correctly inferred difficulty from first principles.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804672"/>
            <a:ext cx="3246120" cy="97840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804672"/>
            <a:ext cx="457200" cy="9784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77840" y="822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577840" y="1307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logP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08192" y="8321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1.72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08192" y="1106424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Aromatic fragment stacking pushes lipophilicity past the logP ≤ 5 limit. The EA learned to punish it hardest.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77840" y="1874520"/>
            <a:ext cx="3246120" cy="97840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1874520"/>
            <a:ext cx="457200" cy="9784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778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577840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108192" y="19019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1.48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08192" y="217627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electrophiles and structural alerts appear in certain fragment combinations. EA evolved resistance.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577840" y="2944368"/>
            <a:ext cx="3246120" cy="97840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577840" y="2944368"/>
            <a:ext cx="457200" cy="9784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7784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577840" y="3447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108192" y="2971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1.48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108192" y="3246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fragments = better binding but higher MW. EA enforces balance.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577840" y="4014216"/>
            <a:ext cx="3246120" cy="97840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577840" y="4014216"/>
            <a:ext cx="457200" cy="9784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7784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577840" y="45171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108192" y="40416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0.74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108192" y="431596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SELFIES builds from pre-synthesizable units — SA constraint almost never violated.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7315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REVAC  —  Principled Hyperparameter Tuning  (Lecture 17)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297680" cy="32918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503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Relevance  (from final selected pool)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2344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0" y="1234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20440" y="12344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Norm. std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0" y="12344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499616"/>
            <a:ext cx="3977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536192"/>
            <a:ext cx="39776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 (pop. size)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48840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99232" y="1572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11880" y="1581912"/>
            <a:ext cx="685800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158191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★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011680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0482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λ/μ  (offspring ratio)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48840" y="20482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99232" y="20482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11880" y="2057400"/>
            <a:ext cx="685800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20574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★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487168"/>
            <a:ext cx="39776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5237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σ_share  (niche radius)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48840" y="2523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99232" y="25237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11880" y="2532888"/>
            <a:ext cx="685800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25328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★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2962656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tournament_k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48840" y="29992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999232" y="29992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11880" y="3008376"/>
            <a:ext cx="685800" cy="21945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11880" y="30083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3438144"/>
            <a:ext cx="39776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 (sharing exponent)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148840" y="3474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999232" y="3474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0.434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11880" y="3483864"/>
            <a:ext cx="685800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11880" y="348386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" y="4206240"/>
            <a:ext cx="4297680" cy="73152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57200" y="423367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configuration  →  python main.py --pop 100 --lambda_ 400 --share 0.2146 --gens 100</a:t>
            </a:r>
            <a:endParaRPr lang="en-US" sz="900" dirty="0"/>
          </a:p>
        </p:txBody>
      </p:sp>
      <p:pic>
        <p:nvPicPr>
          <p:cNvPr id="44" name="Image 0" descr="/Users/davisalley/drugea/surrogate/revac_converg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804672"/>
            <a:ext cx="4206240" cy="1869440"/>
          </a:xfrm>
          <a:prstGeom prst="rect">
            <a:avLst/>
          </a:prstGeom>
        </p:spPr>
      </p:pic>
      <p:sp>
        <p:nvSpPr>
          <p:cNvPr id="45" name="Shape 42"/>
          <p:cNvSpPr/>
          <p:nvPr/>
        </p:nvSpPr>
        <p:spPr>
          <a:xfrm>
            <a:off x="4754880" y="2811272"/>
            <a:ext cx="4206240" cy="244652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4892040" y="2875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REVAC Found: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4892040" y="3195320"/>
            <a:ext cx="3931920" cy="2217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and λ/μ are HIGH relevance → large diverse populations with many offspring consistently outperform small ones
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σ_share HIGH relevance → tight niching (0.215) best; the EA must enforce diversity aggressively
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is irrelevant → sharing mechanism matters; its exact shape does not
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quality: 2.97 kcal/mol (vs 3.53 default) — a 16% improvement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834640" cy="1993392"/>
          </a:xfrm>
          <a:prstGeom prst="rect">
            <a:avLst/>
          </a:prstGeom>
          <a:solidFill>
            <a:srgbClr val="162B40"/>
          </a:solidFill>
          <a:ln w="12700">
            <a:solidFill>
              <a:srgbClr val="253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8346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200/200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3075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SELFIES Validity Guarantee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73352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chromosome — including random mutations and crossover products — decodes to a chemically valid molecule. Zero rejections. Solved architecturally, not by post-hoc filtering.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64408" y="822960"/>
            <a:ext cx="2834640" cy="1993392"/>
          </a:xfrm>
          <a:prstGeom prst="rect">
            <a:avLst/>
          </a:prstGeom>
          <a:solidFill>
            <a:srgbClr val="162B40"/>
          </a:solidFill>
          <a:ln w="12700">
            <a:solidFill>
              <a:srgbClr val="253F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822960"/>
            <a:ext cx="28346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vs 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55848" y="13075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Surrogate Resolves Convergence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1673352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AffinityMLP (RMSE=1.01, R=0.83) produces a meaningful fitness landscape. Archive improvements: 17 with real surrogate vs. ~3 with mock heuristic. Still improving at generation 100.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54496" y="822960"/>
            <a:ext cx="2834640" cy="1993392"/>
          </a:xfrm>
          <a:prstGeom prst="rect">
            <a:avLst/>
          </a:prstGeom>
          <a:solidFill>
            <a:srgbClr val="162B40"/>
          </a:solidFill>
          <a:ln w="12700">
            <a:solidFill>
              <a:srgbClr val="253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822960"/>
            <a:ext cx="2834640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0.026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45936" y="13075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σᵢ Recovers EGFR Pharmacophore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45936" y="1673352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Self-adapted step sizes converged N-heterocycles (imidazole, pyrazine, pyridine, indole) to near-zero σ. The EA independently identified the nitrogen-rich aromatic pharmacophore from binding data alone.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944368"/>
            <a:ext cx="2834640" cy="1993392"/>
          </a:xfrm>
          <a:prstGeom prst="rect">
            <a:avLst/>
          </a:prstGeom>
          <a:solidFill>
            <a:srgbClr val="162B40"/>
          </a:solidFill>
          <a:ln w="12700">
            <a:solidFill>
              <a:srgbClr val="253F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944368"/>
            <a:ext cx="283464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35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logP #1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65760" y="3429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wⱼ Reveals Constraint Difficulty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79476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Evolved penalty weights rank logP (1.72) and PAINS (1.48) as hardest. SA dropped below init (0.74) — SELFIES fragments are pre-synthesizable so SA is rarely violated. EA learned this automatically.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64408" y="2944368"/>
            <a:ext cx="2834640" cy="1993392"/>
          </a:xfrm>
          <a:prstGeom prst="rect">
            <a:avLst/>
          </a:prstGeom>
          <a:solidFill>
            <a:srgbClr val="162B40"/>
          </a:solidFill>
          <a:ln w="12700">
            <a:solidFill>
              <a:srgbClr val="253F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64408" y="2944368"/>
            <a:ext cx="2834640" cy="54864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3035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×3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355848" y="3429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REVAC: μ, λ/μ, σ_share All Critical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55848" y="379476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five parameters are HIGH relevance. α is irrelevant — the sharing mechanism matters, not its shape. Best config (μ=100, λ=400, σ_share=0.215) achieved quality 2.97 kcal/mol.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54496" y="2944368"/>
            <a:ext cx="2834640" cy="1993392"/>
          </a:xfrm>
          <a:prstGeom prst="rect">
            <a:avLst/>
          </a:prstGeom>
          <a:solidFill>
            <a:srgbClr val="162B40"/>
          </a:solidFill>
          <a:ln w="12700">
            <a:solidFill>
              <a:srgbClr val="253F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54496" y="2944368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3035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novel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345936" y="3429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vs. Literature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45936" y="379476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surveyed GA-based drug design methods use fixed parameters. This project is the first to combine: (1) self-adaptive σᵢ, (2) self-adaptive wⱼ, (3) Tanimoto fitness sharing, and (4) REVAC tuning on a fragment-based EA.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DrugEA: Evolutionary Drug Discovery</dc:title>
  <dc:subject>PptxGenJS Presentation</dc:subject>
  <dc:creator>PptxGenJS</dc:creator>
  <cp:lastModifiedBy>PptxGenJS</cp:lastModifiedBy>
  <cp:revision>1</cp:revision>
  <dcterms:created xsi:type="dcterms:W3CDTF">2026-06-18T21:54:43Z</dcterms:created>
  <dcterms:modified xsi:type="dcterms:W3CDTF">2026-06-18T21:54:43Z</dcterms:modified>
</cp:coreProperties>
</file>